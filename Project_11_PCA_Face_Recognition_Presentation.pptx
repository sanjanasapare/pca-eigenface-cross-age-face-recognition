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8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40BEB4"/>
                </a:solidFill>
                <a:latin typeface="Aptos"/>
              </a:rPr>
              <a:t>PROJECT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786384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800" b="1">
                <a:solidFill>
                  <a:srgbClr val="F2F6FA"/>
                </a:solidFill>
                <a:latin typeface="Aptos"/>
              </a:rPr>
              <a:t>PCA-BASED
FACE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63240"/>
            <a:ext cx="7863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Eigenvalues • Eigenvectors • Eigenfaces • Projection • Distance-Based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160520"/>
            <a:ext cx="4754880" cy="11430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4407408"/>
            <a:ext cx="4297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EB84C"/>
                </a:solidFill>
                <a:latin typeface="Aptos"/>
              </a:rPr>
              <a:t>LINEAR ALGEBRA → FEATURE SPACE →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782312"/>
            <a:ext cx="4206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F2F6FA"/>
                </a:solidFill>
                <a:latin typeface="Aptos"/>
              </a:rPr>
              <a:t>Face Image → Vector → PCA → Eigenfaces → Projection → Distance → Same / Different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1188720"/>
            <a:ext cx="914400" cy="914400"/>
          </a:xfrm>
          <a:prstGeom prst="ellipse">
            <a:avLst/>
          </a:prstGeom>
          <a:solidFill>
            <a:srgbClr val="40BEB4"/>
          </a:solidFill>
          <a:ln>
            <a:solidFill>
              <a:srgbClr val="4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0" y="1828800"/>
            <a:ext cx="658368" cy="658368"/>
          </a:xfrm>
          <a:prstGeom prst="ellipse">
            <a:avLst/>
          </a:prstGeom>
          <a:solidFill>
            <a:srgbClr val="5B96E6"/>
          </a:solidFill>
          <a:ln>
            <a:solidFill>
              <a:srgbClr val="5B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0" y="2468880"/>
            <a:ext cx="502920" cy="502920"/>
          </a:xfrm>
          <a:prstGeom prst="ellipse">
            <a:avLst/>
          </a:prstGeom>
          <a:solidFill>
            <a:srgbClr val="EEB84C"/>
          </a:solidFill>
          <a:ln>
            <a:solidFill>
              <a:srgbClr val="EE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41280" y="2743200"/>
            <a:ext cx="411480" cy="411480"/>
          </a:xfrm>
          <a:prstGeom prst="ellipse">
            <a:avLst/>
          </a:prstGeom>
          <a:solidFill>
            <a:srgbClr val="E16565"/>
          </a:solidFill>
          <a:ln>
            <a:solidFill>
              <a:srgbClr val="E1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3886200"/>
            <a:ext cx="2468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3000" b="1">
                <a:solidFill>
                  <a:srgbClr val="F2F6FA"/>
                </a:solidFill>
                <a:latin typeface="Aptos"/>
              </a:rPr>
              <a:t>PCA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34840"/>
            <a:ext cx="3291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>
                <a:solidFill>
                  <a:srgbClr val="AAB8C9"/>
                </a:solidFill>
                <a:latin typeface="Aptos"/>
              </a:rPr>
              <a:t>Mathematical foundation + implementation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Why reduce faces to a mathematical representation?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45262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17720" cy="3337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 An 80 × 80 grayscale image contains 6,400 pixel values.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 Raw pixel comparison is sensitive to lighting, expression, hairstyle and other changes.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 We need a compact representation that preserves the dominant facial variation.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 The project compares faces using their coordinates in a common PCA feature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5074920" cy="452628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508760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EB84C"/>
                </a:solidFill>
                <a:latin typeface="Aptos"/>
              </a:rPr>
              <a:t>PROJECT GOAL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148840"/>
            <a:ext cx="425196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2221992"/>
            <a:ext cx="397764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6,400 pixels  →  k PCA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24612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AAB8C9"/>
                </a:solidFill>
                <a:latin typeface="Aptos"/>
              </a:rPr>
              <a:t>Then compare two projected faces: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794760"/>
            <a:ext cx="425196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3867912"/>
            <a:ext cx="397764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EB84C"/>
                </a:solidFill>
                <a:latin typeface="Cambria Math"/>
              </a:rPr>
              <a:t>d = ‖W₁ − W₂‖₂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754880"/>
            <a:ext cx="40233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d ≤ T  →  SAME PERSON
 d &gt; T  →  DIFFERENT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Linear Algebra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The project follows the evaluation scheme: concept → purpose →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20574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40BEB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5087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Matrix
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024" y="2487168"/>
            <a:ext cx="320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1965960" cy="20574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799" y="201168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40BEB4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2606040"/>
            <a:ext cx="15087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Mean &amp;
centering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487168"/>
            <a:ext cx="320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1965960" cy="20574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40BEB4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606040"/>
            <a:ext cx="15087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Eigenvalues &amp;
eigenvectors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2487168"/>
            <a:ext cx="320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1965960" cy="20574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201168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40BEB4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606040"/>
            <a:ext cx="15087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Eigenfaces &amp;
projection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487168"/>
            <a:ext cx="320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1965960" cy="20574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201168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40BEB4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606040"/>
            <a:ext cx="15087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Distance &amp;
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434840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EEB84C"/>
                </a:solidFill>
                <a:latin typeface="Aptos"/>
              </a:rPr>
              <a:t>Final application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92040"/>
            <a:ext cx="8138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AAB8C9"/>
                </a:solidFill>
                <a:latin typeface="Aptos"/>
              </a:rPr>
              <a:t>compact face representation + recognition / verification 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1 — Image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Convert every face to the same numerical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10424159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EEB84C"/>
                </a:solidFill>
                <a:latin typeface="Cambria Math"/>
              </a:rPr>
              <a:t>80 × 80 grayscale image  →  6,400 × 1 vector 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2514600" cy="21945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40BEB4"/>
                </a:solidFill>
                <a:latin typeface="Aptos"/>
              </a:rPr>
              <a:t>Grayscale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F2F6FA"/>
                </a:solidFill>
                <a:latin typeface="Aptos"/>
              </a:rPr>
              <a:t>Convert RGB image to one intensity value per pixel.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14600"/>
            <a:ext cx="2514600" cy="21945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78892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40BEB4"/>
                </a:solidFill>
                <a:latin typeface="Aptos"/>
              </a:rPr>
              <a:t>Resize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1012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F2F6FA"/>
                </a:solidFill>
                <a:latin typeface="Aptos"/>
              </a:rPr>
              <a:t>Force all faces to identical dimensions: 80 × 80.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2514600" cy="21945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40BEB4"/>
                </a:solidFill>
                <a:latin typeface="Aptos"/>
              </a:rPr>
              <a:t>Flatten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F2F6FA"/>
                </a:solidFill>
                <a:latin typeface="Aptos"/>
              </a:rPr>
              <a:t>Read pixels row-wise/column-wise into one vector.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514600"/>
            <a:ext cx="2514600" cy="21945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278892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40BEB4"/>
                </a:solidFill>
                <a:latin typeface="Aptos"/>
              </a:rPr>
              <a:t>Numerical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31012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F2F6FA"/>
                </a:solidFill>
                <a:latin typeface="Aptos"/>
              </a:rPr>
              <a:t>Each vector element is a pixel intensity.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074920"/>
            <a:ext cx="6675120" cy="6400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5148072"/>
            <a:ext cx="6400800" cy="4937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EEB84C"/>
                </a:solidFill>
                <a:latin typeface="Cambria Math"/>
              </a:rPr>
              <a:t>U = [p₁, p₂, …, p₆₄₀₀]ᵀ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2 — Face Data Matrix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Stack the training faces as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33272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99032"/>
            <a:ext cx="1005840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P = [ U₁  U₂  U₃  …  Uₙ ]  ∈ ℝᵐˣⁿ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074920" cy="306324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389120" cy="1965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m = number of pixels per face (6,400 here).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n = number of database images.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Column j is the complete vector Uⱼ for face j.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P is the numerical form of the training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23160"/>
            <a:ext cx="5303520" cy="30632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EB84C"/>
                </a:solidFill>
                <a:latin typeface="Aptos"/>
              </a:rPr>
              <a:t>IN YOUR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246120"/>
            <a:ext cx="461772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319272"/>
            <a:ext cx="434340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EEB84C"/>
                </a:solidFill>
                <a:latin typeface="Cambria Math"/>
              </a:rPr>
              <a:t>P = np.column_stack(images)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60520"/>
            <a:ext cx="42976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For each readable image:
image.reshape(-1) → one column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3 — Mean Face &amp; Centering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PCA analyzes variation around the average 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502920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07592"/>
            <a:ext cx="475488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EB84C"/>
                </a:solidFill>
                <a:latin typeface="Cambria Math"/>
              </a:rPr>
              <a:t>μ = (1/n) Σᵢ₌₁ⁿ Uᵢ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02920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07592"/>
            <a:ext cx="475488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EB84C"/>
                </a:solidFill>
                <a:latin typeface="Cambria Math"/>
              </a:rPr>
              <a:t>A = P − μ·1ᵀ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5074920" cy="32461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WHY SUBTRACT THE MEAN?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4389120" cy="2057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μ is the average intensity at every pixel position.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Centering removes the common average facial appearance.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A therefore describes how each face differs from the mean.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This makes the covariance / PCA analysis about variation.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5303520" cy="324612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914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EB84C"/>
                </a:solidFill>
                <a:latin typeface="Aptos"/>
              </a:rPr>
              <a:t>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63240"/>
            <a:ext cx="4709160" cy="658368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136392"/>
            <a:ext cx="4434840" cy="51206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EEB84C"/>
                </a:solidFill>
                <a:latin typeface="Cambria Math"/>
              </a:rPr>
              <a:t>mean_face = np.mean(P, axis=1)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77639"/>
            <a:ext cx="4709160" cy="658368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4050791"/>
            <a:ext cx="4434840" cy="51206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EEB84C"/>
                </a:solidFill>
                <a:latin typeface="Cambria Math"/>
              </a:rPr>
              <a:t>A = P − mean_face.reshape(-1,1)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892040"/>
            <a:ext cx="4297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  <a:latin typeface="Aptos"/>
              </a:rPr>
              <a:t>Outcome: centered face matrix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4 — Covariance Structure &amp; the AᵀA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Project 11: use the smaller matrix when pixels ≫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07492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07592"/>
            <a:ext cx="480060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C = A Aᵀ   (m × 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07492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07592"/>
            <a:ext cx="480060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C′ = Aᵀ A   (n ×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F2F6FA"/>
                </a:solidFill>
                <a:latin typeface="Aptos"/>
              </a:rPr>
              <a:t>For face images, m = 6,400 while n may be only a few hundred.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880360"/>
            <a:ext cx="4389120" cy="20574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15468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AAB8C9"/>
                </a:solidFill>
                <a:latin typeface="Aptos"/>
              </a:rPr>
              <a:t>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4023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E16565"/>
                </a:solidFill>
                <a:latin typeface="Aptos"/>
              </a:rPr>
              <a:t>6,400 × 6,400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51960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AAB8C9"/>
                </a:solidFill>
                <a:latin typeface="Aptos"/>
              </a:rPr>
              <a:t>≈ 40.96 million entries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880360"/>
            <a:ext cx="4389120" cy="205740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154680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PROJECT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566160"/>
            <a:ext cx="4023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5BBE7B"/>
                </a:solidFill>
                <a:latin typeface="Aptos"/>
              </a:rPr>
              <a:t>n ×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251960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AAB8C9"/>
                </a:solidFill>
                <a:latin typeface="Aptos"/>
              </a:rPr>
              <a:t>much smaller when n ≪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5257800"/>
            <a:ext cx="484632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5330952"/>
            <a:ext cx="457200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Cambria Math"/>
              </a:rPr>
              <a:t>C′ = AᵀA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5 — Eigenvalues &amp; Eigenvectors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The central mathematical operation in Project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234440"/>
            <a:ext cx="8503920" cy="8229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65960" y="1307592"/>
            <a:ext cx="8229600" cy="6766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EEB84C"/>
                </a:solidFill>
                <a:latin typeface="Cambria Math"/>
              </a:rPr>
              <a:t>C′vᵢ = λᵢvᵢ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429000" cy="24231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EEB84C"/>
                </a:solidFill>
                <a:latin typeface="Aptos"/>
              </a:rPr>
              <a:t>EIGENVALUE  λᵢ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8346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Measures the strength / variance associated with a principal 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429000" cy="242316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40BEB4"/>
                </a:solidFill>
                <a:latin typeface="Aptos"/>
              </a:rPr>
              <a:t>EIGENVECTOR  vᵢ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8346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A direction in the n-dimensional sample space that is preserved by C′.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468880"/>
            <a:ext cx="3429000" cy="24231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78892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5B96E6"/>
                </a:solidFill>
                <a:latin typeface="Aptos"/>
              </a:rPr>
              <a:t>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29000"/>
            <a:ext cx="28346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Sort λ from largest to smallest and keep the dominant components.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5257800"/>
            <a:ext cx="667512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5330952"/>
            <a:ext cx="640080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Cambria Math"/>
              </a:rPr>
              <a:t>λ₁ ≥ λ₂ ≥ λ₃ ≥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6 — From Eigenvectors to Eigenfaces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Map the solution back into image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324612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07592"/>
            <a:ext cx="297180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EEB84C"/>
                </a:solidFill>
                <a:latin typeface="Cambria Math"/>
              </a:rPr>
              <a:t>eᵢ = A vᵢ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34440"/>
            <a:ext cx="324612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307592"/>
            <a:ext cx="297180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eᵢ ← eᵢ / ‖eᵢ‖₂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24612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307592"/>
            <a:ext cx="297180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E = [e₁ e₂ … eₖ]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10972800" cy="25146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WHY THIS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9966960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vᵢ lives in the smaller n-dimensional space.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Multiplying A vᵢ produces a vector in the original pixel space.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Each resulting vector can be reshaped into an 80 × 80 image.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These normalized principal directions are called eigenfaces.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5257800"/>
            <a:ext cx="594360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5330952"/>
            <a:ext cx="566928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Cambria Math"/>
              </a:rPr>
              <a:t>Eigenface matrix E ∈ ℝᵐˣᵏ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7 — Projection into PCA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Turn a face into a compact feature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188720"/>
            <a:ext cx="8503920" cy="8229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65960" y="1261872"/>
            <a:ext cx="8229600" cy="6766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900" b="1">
                <a:solidFill>
                  <a:srgbClr val="EEB84C"/>
                </a:solidFill>
                <a:latin typeface="Cambria Math"/>
              </a:rPr>
              <a:t>W = Eᵀ(U − 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389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AAB8C9"/>
                </a:solidFill>
                <a:latin typeface="Aptos"/>
              </a:rPr>
              <a:t>If E contains k selected eigenfaces, then: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880360"/>
            <a:ext cx="480060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53512"/>
            <a:ext cx="452628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U ∈ ℝᵐ   →   W ∈ ℝᵏ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606040"/>
            <a:ext cx="5074920" cy="256032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92608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383280"/>
            <a:ext cx="4343400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•  Each element of W is a coordinate along an eigenface direction.</a:t>
            </a:r>
          </a:p>
          <a:p>
            <a:pPr>
              <a:spcAft>
                <a:spcPts val="8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•  Instead of comparing thousands of pixels, compare k PCA coordinates.</a:t>
            </a:r>
          </a:p>
          <a:p>
            <a:pPr>
              <a:spcAft>
                <a:spcPts val="8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•  The same E and μ must be used for every query 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074920"/>
            <a:ext cx="6675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EEB84C"/>
                </a:solidFill>
                <a:latin typeface="Aptos"/>
              </a:rPr>
              <a:t>Compact feature representation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Step 8 — Euclidean Distance &amp; Face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Compare faces in the learned PCA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42900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261872"/>
            <a:ext cx="315468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Cambria Math"/>
              </a:rPr>
              <a:t>W₁ = Eᵀ(U₁ − 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2900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261872"/>
            <a:ext cx="315468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Cambria Math"/>
              </a:rPr>
              <a:t>W₂ = Eᵀ(U₂ − 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42900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261872"/>
            <a:ext cx="315468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Cambria Math"/>
              </a:rPr>
              <a:t>d = ‖W₁ − W₂‖₂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5074920" cy="283464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DATABASE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4389120" cy="1554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Project the query face into PCA space.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Compute distance to every stored feature vector.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Choose the smallest distance (nearest face).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92040"/>
            <a:ext cx="438912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965192"/>
            <a:ext cx="411480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EEB84C"/>
                </a:solidFill>
                <a:latin typeface="Cambria Math"/>
              </a:rPr>
              <a:t>j* = arg minⱼ ‖Wquery − Wⱼ‖₂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331720"/>
            <a:ext cx="5074920" cy="28346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EB84C"/>
                </a:solidFill>
                <a:latin typeface="Aptos"/>
              </a:rPr>
              <a:t>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291840"/>
            <a:ext cx="4160520" cy="6400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3364992"/>
            <a:ext cx="3886200" cy="4937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5BBE7B"/>
                </a:solidFill>
                <a:latin typeface="Cambria Math"/>
              </a:rPr>
              <a:t>d ≤ T  → 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160520"/>
            <a:ext cx="4160520" cy="6400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4233672"/>
            <a:ext cx="3886200" cy="4937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E16565"/>
                </a:solidFill>
                <a:latin typeface="Cambria Math"/>
              </a:rPr>
              <a:t>d &gt; T  →  DIFFERENT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Reconstruction — A Useful PCA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Projection is not only for comparison; it can approximate the original 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475488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261872"/>
            <a:ext cx="448056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EEB84C"/>
                </a:solidFill>
                <a:latin typeface="Cambria Math"/>
              </a:rPr>
              <a:t>W = Eᵀ(U − 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188720"/>
            <a:ext cx="475488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61872"/>
            <a:ext cx="448056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EEB84C"/>
                </a:solidFill>
                <a:latin typeface="Cambria Math"/>
              </a:rPr>
              <a:t>Û = E W + 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3154680" cy="237744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2697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ORIGINAL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246120"/>
            <a:ext cx="1600200" cy="114300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2697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F2F6FA"/>
                </a:solidFill>
                <a:latin typeface="Aptos"/>
              </a:rPr>
              <a:t>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331720"/>
            <a:ext cx="3154680" cy="23774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2697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40BEB4"/>
                </a:solidFill>
                <a:latin typeface="Aptos"/>
              </a:rPr>
              <a:t>PCA COORDINATES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429000"/>
            <a:ext cx="242316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3502152"/>
            <a:ext cx="214884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EEB84C"/>
                </a:solidFill>
                <a:latin typeface="Cambria Math"/>
              </a:rPr>
              <a:t>W₁ … Wₖ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331720"/>
            <a:ext cx="3154680" cy="237744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651760"/>
            <a:ext cx="2697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RECONSTRUCTED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246120"/>
            <a:ext cx="1600200" cy="114300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3657600"/>
            <a:ext cx="2697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F2F6FA"/>
                </a:solidFill>
                <a:latin typeface="Aptos"/>
              </a:rPr>
              <a:t>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5166360"/>
            <a:ext cx="713232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97479" y="5239512"/>
            <a:ext cx="685800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EEB84C"/>
                </a:solidFill>
                <a:latin typeface="Cambria Math"/>
              </a:rPr>
              <a:t>reconstruction error = ‖U − Û‖₂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Implementation — Exact Mathematical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How the Python program maps theory to computation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261872" cy="23317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40BEB4"/>
                </a:solidFill>
                <a:latin typeface="Aptos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read_image()
→ 80×80 gray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697480"/>
            <a:ext cx="2011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4792" y="1828800"/>
            <a:ext cx="1261872" cy="233172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37944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EEB84C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4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column_stack(images)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697480"/>
            <a:ext cx="2011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9544" y="1828800"/>
            <a:ext cx="1261872" cy="23317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82696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40BEB4"/>
                </a:solidFill>
                <a:latin typeface="Aptos"/>
              </a:rPr>
              <a:t>μ,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mean + centering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697480"/>
            <a:ext cx="2011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6" y="1828800"/>
            <a:ext cx="1261872" cy="233172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EEB84C"/>
                </a:solidFill>
                <a:latin typeface="Aptos"/>
              </a:rPr>
              <a:t>AᵀA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small_matrix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697480"/>
            <a:ext cx="2011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1828800"/>
            <a:ext cx="1261872" cy="23317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40BEB4"/>
                </a:solidFill>
                <a:latin typeface="Aptos"/>
              </a:rPr>
              <a:t>λ,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np.linalg.eigh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97480"/>
            <a:ext cx="2011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1828800"/>
            <a:ext cx="1261872" cy="233172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16952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EEB84C"/>
                </a:solidFill>
                <a:latin typeface="Aptos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A @ vectors
+ normalize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2697480"/>
            <a:ext cx="2011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2" y="1828800"/>
            <a:ext cx="1261872" cy="23317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61704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40BEB4"/>
                </a:solidFill>
                <a:latin typeface="Aptos"/>
              </a:rPr>
              <a:t>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EᵀA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0424" y="2697480"/>
            <a:ext cx="2011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AAB8C9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33304" y="1828800"/>
            <a:ext cx="1261872" cy="233172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06456" y="2148840"/>
            <a:ext cx="11155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EEB84C"/>
                </a:solidFill>
                <a:latin typeface="Aptos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2743200"/>
            <a:ext cx="1115568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F2F6FA"/>
                </a:solidFill>
                <a:latin typeface="Aptos"/>
              </a:rPr>
              <a:t>‖W₁−W₂‖₂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892040"/>
            <a:ext cx="9601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AAB8C9"/>
                </a:solidFill>
                <a:latin typeface="Aptos"/>
              </a:rPr>
              <a:t>Core implementation is faithful to the mathematical sequence used in the project.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Component Selection &amp; Orthogonality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Why the implementation checks the quality of the PCA 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332720" cy="7315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07592"/>
            <a:ext cx="1005840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EEB84C"/>
                </a:solidFill>
                <a:latin typeface="Cambria Math"/>
              </a:rPr>
              <a:t>k = min(#valid eigenvalues, n−1, 80)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074920" cy="29260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WHY LIMIT COMPONENTS?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389120" cy="1783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Centered data has at most n−1 independent directions.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Zero / near-zero eigenfaces are removed.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The implementation caps the retained basis at 80 components.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Fewer components give a compact representation.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23160"/>
            <a:ext cx="5074920" cy="292608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EB84C"/>
                </a:solidFill>
                <a:latin typeface="Aptos"/>
              </a:rPr>
              <a:t>ORTHOGONALITY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246120"/>
            <a:ext cx="4343400" cy="6400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3319272"/>
            <a:ext cx="4069080" cy="4937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EᵀE ≈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42976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F2F6FA"/>
                </a:solidFill>
                <a:latin typeface="Aptos"/>
              </a:rPr>
              <a:t>The code checks whether the selected normalized eigenfaces form an approximately orthonormal basis.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Cross-Age Face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Same PCA basis → comparable feature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347472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320040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EEB84C"/>
                </a:solidFill>
                <a:latin typeface="Cambria Math"/>
              </a:rPr>
              <a:t>W₁ = Eᵀ(U₁ − 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7472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261872"/>
            <a:ext cx="320040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EEB84C"/>
                </a:solidFill>
                <a:latin typeface="Cambria Math"/>
              </a:rPr>
              <a:t>W₂ = Eᵀ(U₂ − 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88720"/>
            <a:ext cx="3474720" cy="6858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261872"/>
            <a:ext cx="3200400" cy="5394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EEB84C"/>
                </a:solidFill>
                <a:latin typeface="Cambria Math"/>
              </a:rPr>
              <a:t>d = ‖W₁ − W₂‖₂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31720"/>
            <a:ext cx="10972800" cy="233172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EXPERIMENTAL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03784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0">
                <a:solidFill>
                  <a:srgbClr val="F2F6FA"/>
                </a:solidFill>
                <a:latin typeface="Aptos"/>
              </a:rPr>
              <a:t>Two images may differ in age, expression or illumination. The system does not compare their raw pixels directly; it compares their coordinates in the same PCA feature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5074920"/>
            <a:ext cx="9372600" cy="6400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148072"/>
            <a:ext cx="9098280" cy="4937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EEB84C"/>
                </a:solidFill>
                <a:latin typeface="Cambria Math"/>
              </a:rPr>
              <a:t>d ≤ T  →  SAME PERSON       |       d &gt; T  →  DIFFERENT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Threshold Learning &amp;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Turn continuous distance into a binary verification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44805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PAIR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03120"/>
            <a:ext cx="452628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76272"/>
            <a:ext cx="425196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5BBE7B"/>
                </a:solidFill>
                <a:latin typeface="Cambria Math"/>
              </a:rPr>
              <a:t>same-person pairs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452628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999232"/>
            <a:ext cx="425196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E16565"/>
                </a:solidFill>
                <a:latin typeface="Cambria Math"/>
              </a:rPr>
              <a:t>different-person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45262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F2F6FA"/>
                </a:solidFill>
                <a:latin typeface="Aptos"/>
              </a:rPr>
              <a:t>The code computes PCA distances for pairs, then uses the midpoint of the two mean distances as a simple threshold: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800600"/>
            <a:ext cx="452628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873752"/>
            <a:ext cx="425196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EEB84C"/>
                </a:solidFill>
                <a:latin typeface="Cambria Math"/>
              </a:rPr>
              <a:t>T = (mean_same + mean_different) /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257800" cy="448056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EB84C"/>
                </a:solidFill>
                <a:latin typeface="Aptos"/>
              </a:rPr>
              <a:t>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148840"/>
            <a:ext cx="452628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221992"/>
            <a:ext cx="425196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EEB84C"/>
                </a:solidFill>
                <a:latin typeface="Cambria Math"/>
              </a:rPr>
              <a:t>predicted_same = (d ≤ 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017520"/>
            <a:ext cx="4526280" cy="5943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090672"/>
            <a:ext cx="4251960" cy="4480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EEB84C"/>
                </a:solidFill>
                <a:latin typeface="Cambria Math"/>
              </a:rPr>
              <a:t>Accuracy = correct / total ×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77639"/>
            <a:ext cx="45262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The implementation separately reports:
• same-person accuracy
• different-person accuracy
• overall 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Gradio Application —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The project is exposed through a simple interactive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33832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40BEB4"/>
                </a:solidFill>
                <a:latin typeface="Aptos"/>
              </a:rPr>
              <a:t>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05740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Load database
Run PCA
Mean face
First eigenface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14600" cy="338328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EEB84C"/>
                </a:solidFill>
                <a:latin typeface="Aptos"/>
              </a:rPr>
              <a:t>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14600"/>
            <a:ext cx="205740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Upload face
Nearest PCA feature
Predicted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2514600" cy="33832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40BEB4"/>
                </a:solidFill>
                <a:latin typeface="Aptos"/>
              </a:rPr>
              <a:t>Reconstruction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205740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Upload face
Project → reconstruct
Reconstruction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2514600" cy="338328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1783080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EEB84C"/>
                </a:solidFill>
                <a:latin typeface="Aptos"/>
              </a:rPr>
              <a:t>Different 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514600"/>
            <a:ext cx="205740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F2F6FA"/>
                </a:solidFill>
                <a:latin typeface="Aptos"/>
              </a:rPr>
              <a:t>Upload two faces
Distance + threshold
Verification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57800"/>
            <a:ext cx="9601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AAB8C9"/>
                </a:solidFill>
                <a:latin typeface="Aptos"/>
              </a:rPr>
              <a:t>No filename/person ID is used to make the distance-based verification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Dataset &amp;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What the supplied project materials establish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45262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914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0BEB4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526280" cy="2926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Dataset referenced by the presentation: FBNet Kaggle face dataset.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The code shown in the project uses a CACD_VS database path.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Images are converted to grayscale and resized to 80 × 80.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The current setup limits loading to MAX_IMAGES = 300.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03520" cy="452628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3383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EB84C"/>
                </a:solidFill>
                <a:latin typeface="Aptos"/>
              </a:rPr>
              <a:t>IMPORTANT EXPERIMENTAL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480560" cy="2926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A strong cross-age experiment needs multiple ages/images for the same identities.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Evaluation should include both genuine (same-person) and impostor (different-person) pairs.</a:t>
            </a:r>
          </a:p>
          <a:p>
            <a:pPr>
              <a:spcAft>
                <a:spcPts val="800"/>
              </a:spcAft>
              <a:defRPr sz="1500">
                <a:solidFill>
                  <a:srgbClr val="F2F6FA"/>
                </a:solidFill>
                <a:latin typeface="Aptos"/>
              </a:defRPr>
            </a:pPr>
            <a:r>
              <a:t>•  Reported accuracy depends on the loaded data and thresholding procedure.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0BEB4"/>
                </a:solidFill>
                <a:latin typeface="Aptos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Complete Mathematical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One slide to memorize for the demo and viva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835640" cy="82296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70432"/>
            <a:ext cx="10561319" cy="6766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EEB84C"/>
                </a:solidFill>
                <a:latin typeface="Cambria Math"/>
              </a:rPr>
              <a:t>Image → U → P → μ → A → AᵀA → (λ,v) → E → W →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423160"/>
            <a:ext cx="1261872" cy="22860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9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Vectorize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4792" y="2423160"/>
            <a:ext cx="1261872" cy="228600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10512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Build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7944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9544" y="2423160"/>
            <a:ext cx="1261872" cy="22860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5264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4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A = P − 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4296" y="2423160"/>
            <a:ext cx="1261872" cy="228600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0016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Eigen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AᵀA v = λv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9048" y="2423160"/>
            <a:ext cx="1261872" cy="22860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Eigenfaces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E = Av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423160"/>
            <a:ext cx="1261872" cy="228600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W = Eᵀ(U−μ)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8552" y="2423160"/>
            <a:ext cx="1261872" cy="228600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34272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Compare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d = ‖W₁−W₂‖₂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33304" y="2423160"/>
            <a:ext cx="1261872" cy="228600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79024" y="2670048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40BEB4"/>
                </a:solidFill>
                <a:latin typeface="Apto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9024" y="3063240"/>
            <a:ext cx="11704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2F6FA"/>
                </a:solidFill>
                <a:latin typeface="Aptos"/>
              </a:rPr>
              <a:t>Decide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6456" y="3703320"/>
            <a:ext cx="1115568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B84C"/>
                </a:solidFill>
                <a:latin typeface="Cambria Math"/>
              </a:rPr>
              <a:t>d vs 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212080"/>
            <a:ext cx="99669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AAB8C9"/>
                </a:solidFill>
                <a:latin typeface="Aptos"/>
              </a:rPr>
              <a:t>This is the conceptual chain connecting the linear algebra to the final face decision.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2F6FA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86384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F2F6FA"/>
                </a:solidFill>
                <a:latin typeface="Aptos"/>
              </a:rPr>
              <a:t>PCA turns a high-dimensional face image into a compact, interpretable mathematical representation.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383280" cy="12344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4144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40BEB4"/>
                </a:solidFill>
                <a:latin typeface="Aptos"/>
              </a:rPr>
              <a:t>Eigenvalues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52928"/>
            <a:ext cx="2971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F2F6FA"/>
                </a:solidFill>
                <a:latin typeface="Aptos"/>
              </a:rPr>
              <a:t>identify dominant directions of facial variation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40280"/>
            <a:ext cx="3383280" cy="12344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44144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40BEB4"/>
                </a:solidFill>
                <a:latin typeface="Aptos"/>
              </a:rPr>
              <a:t>Eigenvectors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852928"/>
            <a:ext cx="2971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F2F6FA"/>
                </a:solidFill>
                <a:latin typeface="Aptos"/>
              </a:rPr>
              <a:t>provide the principal directions used to form eigenfaces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240280"/>
            <a:ext cx="3383280" cy="12344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44144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40BEB4"/>
                </a:solidFill>
                <a:latin typeface="Aptos"/>
              </a:rPr>
              <a:t>Eigenfaces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852928"/>
            <a:ext cx="2971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F2F6FA"/>
                </a:solidFill>
                <a:latin typeface="Aptos"/>
              </a:rPr>
              <a:t>represent those directions back in image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40480"/>
            <a:ext cx="3383280" cy="12344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04164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40BEB4"/>
                </a:solidFill>
                <a:latin typeface="Aptos"/>
              </a:rPr>
              <a:t>Projection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453128"/>
            <a:ext cx="2971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F2F6FA"/>
                </a:solidFill>
                <a:latin typeface="Aptos"/>
              </a:rPr>
              <a:t>produces compact coordinates for each 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840480"/>
            <a:ext cx="3383280" cy="12344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404164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40BEB4"/>
                </a:solidFill>
                <a:latin typeface="Aptos"/>
              </a:rPr>
              <a:t>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453128"/>
            <a:ext cx="2971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F2F6FA"/>
                </a:solidFill>
                <a:latin typeface="Aptos"/>
              </a:rPr>
              <a:t>compares faces in PCA 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840480"/>
            <a:ext cx="3383280" cy="1234440"/>
          </a:xfrm>
          <a:prstGeom prst="roundRect">
            <a:avLst/>
          </a:prstGeom>
          <a:solidFill>
            <a:srgbClr val="1B2738"/>
          </a:solidFill>
          <a:ln>
            <a:solidFill>
              <a:srgbClr val="1B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04164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40BEB4"/>
                </a:solidFill>
                <a:latin typeface="Aptos"/>
              </a:rPr>
              <a:t>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453128"/>
            <a:ext cx="2971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>
                <a:solidFill>
                  <a:srgbClr val="F2F6FA"/>
                </a:solidFill>
                <a:latin typeface="Aptos"/>
              </a:rPr>
              <a:t>converts distance into a SAME / DIFFERENT decision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5532120"/>
            <a:ext cx="9601200" cy="640080"/>
          </a:xfrm>
          <a:prstGeom prst="roundRect">
            <a:avLst/>
          </a:prstGeom>
          <a:solidFill>
            <a:srgbClr val="141D2B"/>
          </a:solidFill>
          <a:ln>
            <a:solidFill>
              <a:srgbClr val="14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19" y="5605272"/>
            <a:ext cx="9326880" cy="4937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EEB84C"/>
                </a:solidFill>
                <a:latin typeface="Cambria Math"/>
              </a:rPr>
              <a:t>d ≤ T  →  SAME PERSON     |     d &gt; T  →  DIFFERENT PEOPLE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2D3D50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1111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AAB8C9"/>
                </a:solidFill>
                <a:latin typeface="Aptos"/>
              </a:rPr>
              <a:t>PROJECT 11  •  PCA-BASED FACE RECOGNITION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11112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AAB8C9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1836</Words>
  <Application>Microsoft Office PowerPoint</Application>
  <PresentationFormat>Widescreen</PresentationFormat>
  <Paragraphs>321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Sanjana Sapare</cp:lastModifiedBy>
  <cp:revision>2</cp:revision>
  <dcterms:created xsi:type="dcterms:W3CDTF">2013-01-27T09:14:16Z</dcterms:created>
  <dcterms:modified xsi:type="dcterms:W3CDTF">2026-10-13T05:23:35Z</dcterms:modified>
  <cp:category/>
</cp:coreProperties>
</file>